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70" r:id="rId9"/>
    <p:sldId id="269" r:id="rId10"/>
    <p:sldId id="271" r:id="rId11"/>
    <p:sldId id="260" r:id="rId12"/>
    <p:sldId id="272" r:id="rId13"/>
    <p:sldId id="273" r:id="rId14"/>
    <p:sldId id="264" r:id="rId15"/>
    <p:sldId id="262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2"/>
    <p:restoredTop sz="75118"/>
  </p:normalViewPr>
  <p:slideViewPr>
    <p:cSldViewPr snapToGrid="0">
      <p:cViewPr varScale="1">
        <p:scale>
          <a:sx n="110" d="100"/>
          <a:sy n="110" d="100"/>
        </p:scale>
        <p:origin x="2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C7451-4C80-3D4C-A15F-0D21D436EC7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1795B-EA77-024F-8768-A7235B466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35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1795B-EA77-024F-8768-A7235B466C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77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1795B-EA77-024F-8768-A7235B466C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2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1795B-EA77-024F-8768-A7235B466C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34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1795B-EA77-024F-8768-A7235B466C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55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09E4-6E99-D208-87CF-136EC6D3A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EB2D4-2F93-5817-17F0-63F8E5557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7A7E1-6BA9-9B51-F284-0B2853B66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86DC9-4098-7043-E796-D148426B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EC0F5-BC83-088F-BE52-B3BE5D3A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18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9D219-D507-ABC7-C58F-22DF68330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E78EE-C823-96A1-9424-1248CC979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49B37-F496-3099-CDED-E4C1F2F7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1C6F7-A392-AE8F-5638-DC1404A7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14ED7-4872-D7E9-E1AE-CD4E0D60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34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2349F-BA71-85E3-D3D6-567CF1063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59F97-39DC-BB55-BC98-05398BA85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CEE69-1E59-AD02-F95C-2B179DFCC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988ED-3C95-F973-6195-CD876FC7E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3592-3F7D-C780-7EDE-60B9322D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FD982-0370-AECF-9449-28181F5F3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41C21-80C3-57B5-38FF-D2CBA675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0B251-2151-D1E8-8031-33B0FB9CC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B9669-0E49-7E49-99C7-37BC22A23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59E3C-8E1F-6F68-4790-DDD1150C9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E8CA2-F0B0-F677-1C16-4B6B79A67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8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EECD-5B82-0EFD-449C-EDF78AE20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A29B4-F2D1-0553-ED0E-3739D3691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90AB4-C224-E8A8-F7D6-2ADBC2A74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DE305-60CF-8841-703C-81B976CD9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02228-A024-238D-5633-5615D9002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427AA0-785E-DA9A-F8E1-8B06FD9E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F31563-7069-02E7-4F1F-603A0D1B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1A6D9-FDED-D35D-E4D3-DD92D01B7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69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83F5-D4F9-F7A1-0294-B70E40E9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8B5D2-A0AA-B4CF-EDFC-44AF4D034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5FBADA-CDD7-700A-5559-B27398D9A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5D098-A1D8-43FC-FB35-C5EFACF3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54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AC469-9CBE-4E9A-71BC-78E0F914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1FECC1-1479-1B43-672D-93793AA32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30442-9C42-9E4E-6C2E-16797054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5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03B1C-57E1-0598-9C00-1606DE13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764E4-6082-C384-E739-98578BE48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2E076-DC33-B520-BEFA-59203644E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F9C5E-83F0-73F8-6EE3-B413AD02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9EF21-26AE-75D6-C386-02526570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02EA7-119A-5F9A-BB69-DFAC8331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1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2A50C-0284-9302-54A0-11F1EB6E8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41BD1-758D-465B-1DFE-51FE5FD096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187A8-4DBF-E52F-7C0B-4546C2786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AE240-BA91-365C-9FDD-AA74D7625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72904-5A6A-947E-13B8-0B18F755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0B4A3-18C2-3644-C909-03CFF32AF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1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8D12-E28B-27C5-F771-654CC947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9AA55-3C2A-0BE3-FED7-95BB37C0E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135BC-DDC3-87D1-A8A4-E4298238D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F2950-A311-243A-9D33-C20B6C07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C3898-8139-FF98-C8B5-4D449B44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53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C613A7-C6F8-E2D8-E07F-8B1A0725A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50832-30C6-B9BD-3876-3467898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CC44D-C1A7-53F1-8657-C723E6AC0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D18DF-4C1B-BEF7-C6D3-C6765D67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03FD7-42A8-2B22-B121-6EF96386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4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225F65-3B3F-641F-15BF-3022D4A5C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7E8FA-6B10-89BB-6780-C611D86C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88155-F6DD-B8FE-A645-DFF8757B0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ED4DE-C59F-3B4E-B062-353402407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A17BC-8432-4809-8CB7-D3F6D9A97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344A0-3729-60E4-D84C-47604BAAA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31F34-6386-814B-96C3-A3BE19D44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3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C2D9-A8CF-D1FC-B617-9AD407C3DB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Experiment Setting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598CF-4C6C-6033-C4E1-286FFAEA86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34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DB4D-FD73-386D-5E8E-E091D7E13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 Horizon &amp;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80976-808E-D07A-DA47-9642963A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Objective:</a:t>
            </a:r>
            <a:r>
              <a:rPr lang="en-AU" dirty="0"/>
              <a:t> Predict next 48 half-hour slots (1 day) of electricity demand.</a:t>
            </a:r>
          </a:p>
          <a:p>
            <a:r>
              <a:rPr lang="en-AU" b="1" dirty="0"/>
              <a:t>Input window (past 48 slots):</a:t>
            </a:r>
            <a:endParaRPr lang="en-AU" dirty="0"/>
          </a:p>
          <a:p>
            <a:pPr lvl="1"/>
            <a:r>
              <a:rPr lang="en-AU" dirty="0"/>
              <a:t>Demand (MW) history</a:t>
            </a:r>
          </a:p>
          <a:p>
            <a:pPr lvl="1"/>
            <a:r>
              <a:rPr lang="en-AU" dirty="0"/>
              <a:t>Temperature history</a:t>
            </a:r>
          </a:p>
          <a:p>
            <a:pPr lvl="1"/>
            <a:r>
              <a:rPr lang="en-AU" dirty="0"/>
              <a:t>Calendar/time features (hour, day-of-week, weekend, holiday)</a:t>
            </a:r>
          </a:p>
          <a:p>
            <a:pPr lvl="1"/>
            <a:r>
              <a:rPr lang="en-AU" dirty="0"/>
              <a:t>Rolling statistics (e.g., daily avg, 7-day avg)</a:t>
            </a:r>
          </a:p>
          <a:p>
            <a:r>
              <a:rPr lang="en-AU" b="1" dirty="0"/>
              <a:t>Output horizon (next 48 slots):</a:t>
            </a:r>
            <a:endParaRPr lang="en-AU" dirty="0"/>
          </a:p>
          <a:p>
            <a:pPr lvl="1"/>
            <a:r>
              <a:rPr lang="en-AU" dirty="0"/>
              <a:t>Vector of 48 demand predictions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556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7DE1C90-026B-29F8-4194-67EA1E3CB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0" y="143977"/>
            <a:ext cx="10515600" cy="988787"/>
          </a:xfrm>
        </p:spPr>
        <p:txBody>
          <a:bodyPr/>
          <a:lstStyle/>
          <a:p>
            <a:r>
              <a:rPr lang="en-US" dirty="0"/>
              <a:t>How do we handle temperature?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A626F5-7574-2AB3-6E7E-6C6F0AD3F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3991"/>
            <a:ext cx="5181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[Past 48 slots]  </a:t>
            </a:r>
          </a:p>
          <a:p>
            <a:pPr marL="0" indent="0">
              <a:buNone/>
            </a:pPr>
            <a:r>
              <a:rPr lang="en-US" dirty="0"/>
              <a:t>-&gt; [Model] </a:t>
            </a:r>
          </a:p>
          <a:p>
            <a:pPr marL="0" indent="0">
              <a:buNone/>
            </a:pPr>
            <a:r>
              <a:rPr lang="en-US" dirty="0"/>
              <a:t>-&gt; [Next day Demand forecast]</a:t>
            </a:r>
          </a:p>
          <a:p>
            <a:r>
              <a:rPr lang="en-AU" b="1" dirty="0"/>
              <a:t>History-only input (baseline):</a:t>
            </a:r>
            <a:endParaRPr lang="en-AU" dirty="0"/>
          </a:p>
          <a:p>
            <a:pPr lvl="1"/>
            <a:r>
              <a:rPr lang="en-AU" dirty="0"/>
              <a:t>Use yesterday’s temperature + demand.</a:t>
            </a:r>
          </a:p>
          <a:p>
            <a:pPr lvl="1"/>
            <a:r>
              <a:rPr lang="en-AU" dirty="0"/>
              <a:t>Captures daily cycles and “similar day” patterns.</a:t>
            </a:r>
          </a:p>
          <a:p>
            <a:pPr lvl="1"/>
            <a:r>
              <a:rPr lang="en-AU" dirty="0"/>
              <a:t>Limitation: cannot adapt if tomorrow is unusually hot/cold. (only in reality)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1A71D-297D-30D4-2AC6-7D5C21463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9260" y="1328174"/>
            <a:ext cx="5181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[Past 48 slots] + </a:t>
            </a:r>
            <a:r>
              <a:rPr lang="en-US" dirty="0">
                <a:solidFill>
                  <a:srgbClr val="FF0000"/>
                </a:solidFill>
              </a:rPr>
              <a:t>[Temp forecast 48 slots]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→  [Model]  </a:t>
            </a:r>
          </a:p>
          <a:p>
            <a:pPr marL="0" indent="0">
              <a:buNone/>
            </a:pPr>
            <a:r>
              <a:rPr lang="en-US" dirty="0"/>
              <a:t>→  [Next day demand forecast]</a:t>
            </a:r>
          </a:p>
          <a:p>
            <a:r>
              <a:rPr lang="en-AU" b="1" dirty="0"/>
              <a:t>History + forecast input (realistic):</a:t>
            </a:r>
            <a:endParaRPr lang="en-AU" dirty="0"/>
          </a:p>
          <a:p>
            <a:pPr lvl="1"/>
            <a:r>
              <a:rPr lang="en-AU" dirty="0"/>
              <a:t>Add forecasted temperature for next 48 slots.</a:t>
            </a:r>
          </a:p>
          <a:p>
            <a:pPr lvl="1"/>
            <a:r>
              <a:rPr lang="en-AU" dirty="0"/>
              <a:t>Allows demand forecast to adjust to heatwaves/cold spells.</a:t>
            </a:r>
          </a:p>
          <a:p>
            <a:pPr lvl="1"/>
            <a:r>
              <a:rPr lang="en-AU" dirty="0"/>
              <a:t>Depends on forecast quality, not true observed temps (no leakage).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828E2-3432-87CA-FA04-D75BFE2E3FAB}"/>
              </a:ext>
            </a:extLst>
          </p:cNvPr>
          <p:cNvSpPr txBox="1"/>
          <p:nvPr/>
        </p:nvSpPr>
        <p:spPr>
          <a:xfrm>
            <a:off x="212222" y="5779089"/>
            <a:ext cx="64335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Key decision:</a:t>
            </a:r>
            <a:endParaRPr lang="en-AU" dirty="0"/>
          </a:p>
          <a:p>
            <a:r>
              <a:rPr lang="en-AU" i="1" dirty="0"/>
              <a:t>Research upper bound</a:t>
            </a:r>
            <a:r>
              <a:rPr lang="en-AU" dirty="0"/>
              <a:t>: train/evaluate with observed future temps.</a:t>
            </a:r>
          </a:p>
          <a:p>
            <a:r>
              <a:rPr lang="en-AU" i="1" dirty="0"/>
              <a:t>Deployment realism</a:t>
            </a:r>
            <a:r>
              <a:rPr lang="en-AU" dirty="0"/>
              <a:t>: train with forecast temps.</a:t>
            </a:r>
          </a:p>
        </p:txBody>
      </p:sp>
    </p:spTree>
    <p:extLst>
      <p:ext uri="{BB962C8B-B14F-4D97-AF65-F5344CB8AC3E}">
        <p14:creationId xmlns:p14="http://schemas.microsoft.com/office/powerpoint/2010/main" val="374213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0FF72-91E5-536C-1852-615785CD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with history-only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95D1A-6CBD-6464-037F-9305C5F02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With history-only inputs we can still:</a:t>
            </a:r>
          </a:p>
          <a:p>
            <a:pPr lvl="1"/>
            <a:r>
              <a:rPr lang="en-AU" sz="2800" b="1" dirty="0"/>
              <a:t>Train</a:t>
            </a:r>
            <a:r>
              <a:rPr lang="en-AU" sz="2800" dirty="0"/>
              <a:t> with </a:t>
            </a:r>
            <a:r>
              <a:rPr lang="en-AU" sz="2800" b="1" dirty="0"/>
              <a:t>hot-aware sample weighting</a:t>
            </a:r>
            <a:r>
              <a:rPr lang="en-AU" sz="2800" dirty="0"/>
              <a:t> (no leakage in inputs).</a:t>
            </a:r>
          </a:p>
          <a:p>
            <a:pPr lvl="1"/>
            <a:r>
              <a:rPr lang="en-AU" sz="2800" b="1" dirty="0"/>
              <a:t>Evaluate</a:t>
            </a:r>
            <a:r>
              <a:rPr lang="en-AU" sz="2800" dirty="0"/>
              <a:t> by slicing metrics on </a:t>
            </a:r>
            <a:r>
              <a:rPr lang="en-AU" sz="2800" b="1" dirty="0"/>
              <a:t>actual hot/cold/normal days</a:t>
            </a:r>
            <a:r>
              <a:rPr lang="en-AU" sz="2800" dirty="0"/>
              <a:t>.</a:t>
            </a:r>
          </a:p>
          <a:p>
            <a:pPr lvl="1"/>
            <a:r>
              <a:rPr lang="en-AU" sz="2800" b="1" dirty="0"/>
              <a:t>Compare feature sets</a:t>
            </a:r>
            <a:r>
              <a:rPr lang="en-AU" sz="2800" dirty="0"/>
              <a:t> on these slices to see which helps hot-day performance.</a:t>
            </a:r>
          </a:p>
          <a:p>
            <a:r>
              <a:rPr lang="en-AU" sz="3200" dirty="0"/>
              <a:t>Given the </a:t>
            </a:r>
            <a:r>
              <a:rPr lang="en-AU" sz="3200" b="1" dirty="0"/>
              <a:t>1-week deadline for modelling</a:t>
            </a:r>
            <a:r>
              <a:rPr lang="en-AU" sz="3200" dirty="0"/>
              <a:t>, we’d better stick to </a:t>
            </a:r>
            <a:r>
              <a:rPr lang="en-AU" sz="3200" b="1" dirty="0"/>
              <a:t>history-only inputs</a:t>
            </a:r>
            <a:r>
              <a:rPr lang="en-AU" sz="3200" dirty="0"/>
              <a:t> keeps the pipeline clean and avoids the complexity of sourcing or simulating future forecasts. </a:t>
            </a:r>
          </a:p>
          <a:p>
            <a:endParaRPr lang="en-AU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24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F91C5-297A-ED30-ABA8-BBDDB5A24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 1. Feature set comparison (history-only):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A2270-3F09-DE29-137B-5C1554B90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Baseline minimal (fs2_min: demand + temp).</a:t>
            </a:r>
          </a:p>
          <a:p>
            <a:r>
              <a:rPr lang="en-AU" dirty="0"/>
              <a:t>Add time encodings (fs3_time).</a:t>
            </a:r>
          </a:p>
          <a:p>
            <a:r>
              <a:rPr lang="en-AU" dirty="0"/>
              <a:t>Add calendar (fs4_cal).</a:t>
            </a:r>
          </a:p>
          <a:p>
            <a:r>
              <a:rPr lang="en-AU" dirty="0"/>
              <a:t>Strong set (lags, rolling windows, calendar).</a:t>
            </a:r>
          </a:p>
          <a:p>
            <a:r>
              <a:rPr lang="en-AU" dirty="0"/>
              <a:t>Hot-aware variant (sample weighting).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r>
              <a:rPr lang="en-US" dirty="0"/>
              <a:t>To answer a research question: “</a:t>
            </a:r>
            <a:r>
              <a:rPr lang="en-US" b="1" dirty="0">
                <a:solidFill>
                  <a:srgbClr val="FF0000"/>
                </a:solidFill>
              </a:rPr>
              <a:t>Which features make the model more robust, especially on hot days?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2415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17198-124F-EFAE-3FE7-160917C14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 2. Hot-aware weighting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A4C1D-01A1-BE65-E435-8C64E6FD8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Re-train with </a:t>
            </a:r>
            <a:r>
              <a:rPr lang="en-AU" b="1" dirty="0"/>
              <a:t>weights &gt;1 for hot days</a:t>
            </a:r>
            <a:r>
              <a:rPr lang="en-AU" dirty="0"/>
              <a:t> (e.g., 2.0×).</a:t>
            </a:r>
          </a:p>
          <a:p>
            <a:r>
              <a:rPr lang="en-AU" dirty="0"/>
              <a:t>Compare overall MAE/RMSE vs hot-day MAE/RMSE.</a:t>
            </a:r>
          </a:p>
          <a:p>
            <a:r>
              <a:rPr lang="en-AU" dirty="0"/>
              <a:t>Report whether the trade-off (slightly worse normal-day accuracy, better hot-day accuracy) is worth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784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9302F-24FE-A731-4149-1BE0AFA1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 3. Evaluation slices (history-only)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94F5E-0382-D7EE-6339-B11B440B1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Slice performance by </a:t>
            </a:r>
            <a:r>
              <a:rPr lang="en-AU" b="1" dirty="0"/>
              <a:t>hot vs cold vs normal days</a:t>
            </a:r>
            <a:r>
              <a:rPr lang="en-AU" dirty="0"/>
              <a:t>.</a:t>
            </a:r>
          </a:p>
          <a:p>
            <a:r>
              <a:rPr lang="en-AU" dirty="0"/>
              <a:t>Slice by </a:t>
            </a:r>
            <a:r>
              <a:rPr lang="en-AU" b="1" dirty="0"/>
              <a:t>hour-of-day</a:t>
            </a:r>
            <a:r>
              <a:rPr lang="en-AU" dirty="0"/>
              <a:t> (to see if hot-day ramps in the afternoon are hardest).</a:t>
            </a:r>
          </a:p>
          <a:p>
            <a:r>
              <a:rPr lang="en-AU" dirty="0"/>
              <a:t>Plot MAE by horizon for hot vs normal/cold.</a:t>
            </a:r>
          </a:p>
          <a:p>
            <a:r>
              <a:rPr lang="en-AU" dirty="0"/>
              <a:t>To demonstrate the model isn’t just accurate “on average” but has strengths/weaknesses in critical conditions.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191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29344-0046-ECAA-D52E-6E0C1CA6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 4. Baselines for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97E22-B059-BF28-10EB-12D36FDA9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against persistence baseline.</a:t>
            </a:r>
          </a:p>
          <a:p>
            <a:r>
              <a:rPr lang="en-US" dirty="0"/>
              <a:t>To show that our models (inc. LSTM) + feature engineering can outperform simple rules.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092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E9E6A-AF20-3C60-63AA-7939128B0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0606" y="357330"/>
            <a:ext cx="5157787" cy="823912"/>
          </a:xfrm>
        </p:spPr>
        <p:txBody>
          <a:bodyPr/>
          <a:lstStyle/>
          <a:p>
            <a:r>
              <a:rPr lang="en-US" dirty="0"/>
              <a:t>Scope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849EF-B2E9-2E83-9753-E640B6858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446663"/>
            <a:ext cx="5157787" cy="4743000"/>
          </a:xfrm>
        </p:spPr>
        <p:txBody>
          <a:bodyPr/>
          <a:lstStyle/>
          <a:p>
            <a:r>
              <a:rPr lang="en-AU" i="1" dirty="0"/>
              <a:t>“We restrict inputs to past history only (demand + temperature + calendar).”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i="1" dirty="0"/>
              <a:t>“We focus our analysis on how feature sets and hot-aware training affect accuracy on extreme hot days.”</a:t>
            </a:r>
            <a:endParaRPr lang="en-AU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27DDC-B48B-8A99-C692-985B745DC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400762"/>
            <a:ext cx="5183188" cy="823912"/>
          </a:xfrm>
        </p:spPr>
        <p:txBody>
          <a:bodyPr/>
          <a:lstStyle/>
          <a:p>
            <a:r>
              <a:rPr lang="en-US" dirty="0"/>
              <a:t>Evaluation Strategy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7D9B4-FE7D-AA9A-E81D-B8D0CB51E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446663"/>
            <a:ext cx="5183188" cy="4743000"/>
          </a:xfrm>
        </p:spPr>
        <p:txBody>
          <a:bodyPr/>
          <a:lstStyle/>
          <a:p>
            <a:r>
              <a:rPr lang="en-AU" dirty="0"/>
              <a:t>Report metrics overall + by day type (hot, cold, normal).</a:t>
            </a:r>
          </a:p>
          <a:p>
            <a:r>
              <a:rPr lang="en-AU" dirty="0"/>
              <a:t>Explicitly test hot-aware weighting.</a:t>
            </a:r>
          </a:p>
          <a:p>
            <a:r>
              <a:rPr lang="en-AU" dirty="0"/>
              <a:t>Compare against persistence baseline.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988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E5CDB65-2DD5-0369-52CE-26A0A0DEF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Engineered Data </a:t>
            </a:r>
          </a:p>
        </p:txBody>
      </p:sp>
    </p:spTree>
    <p:extLst>
      <p:ext uri="{BB962C8B-B14F-4D97-AF65-F5344CB8AC3E}">
        <p14:creationId xmlns:p14="http://schemas.microsoft.com/office/powerpoint/2010/main" val="240413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797B2-DB51-F962-D451-C33D4050C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46E37-388C-7F74-5C05-36A27F720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y (demand)</a:t>
            </a:r>
            <a:r>
              <a:rPr lang="en-AU" dirty="0"/>
              <a:t>: the target to forecast, in megawatts (MW).</a:t>
            </a:r>
          </a:p>
          <a:p>
            <a:r>
              <a:rPr lang="en-AU" b="1" dirty="0"/>
              <a:t>temp</a:t>
            </a:r>
            <a:r>
              <a:rPr lang="en-AU" dirty="0"/>
              <a:t>: observed temperature at half-hour resolution, because electricity use (air-con, heating) responds strongly to heat and cold.</a:t>
            </a:r>
          </a:p>
          <a:p>
            <a:r>
              <a:rPr lang="en-AU" b="1" dirty="0" err="1"/>
              <a:t>y_forecast</a:t>
            </a:r>
            <a:r>
              <a:rPr lang="en-AU" dirty="0"/>
              <a:t>: operator’s published demand forecast, which can act as a baseline.</a:t>
            </a:r>
          </a:p>
          <a:p>
            <a:endParaRPr lang="en-A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637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80E0-F982-F2CF-4077-91259E93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Calendar and time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5A732-5345-0B1A-FBDC-CB1445434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b="1" dirty="0"/>
              <a:t>hour</a:t>
            </a:r>
            <a:r>
              <a:rPr lang="en-AU" dirty="0"/>
              <a:t>: numeric hour (e.g., 13.5 = 1:30pm).</a:t>
            </a:r>
          </a:p>
          <a:p>
            <a:r>
              <a:rPr lang="en-AU" b="1" dirty="0" err="1"/>
              <a:t>dow</a:t>
            </a:r>
            <a:r>
              <a:rPr lang="en-AU" b="1" dirty="0"/>
              <a:t> (day of week)</a:t>
            </a:r>
            <a:r>
              <a:rPr lang="en-AU" dirty="0"/>
              <a:t>: Monday = 0 … Sunday = 6.</a:t>
            </a:r>
          </a:p>
          <a:p>
            <a:r>
              <a:rPr lang="en-AU" b="1" dirty="0" err="1"/>
              <a:t>is_weekend</a:t>
            </a:r>
            <a:r>
              <a:rPr lang="en-AU" dirty="0"/>
              <a:t>: 1 if Saturday/Sunday, else 0.</a:t>
            </a:r>
          </a:p>
          <a:p>
            <a:r>
              <a:rPr lang="en-AU" b="1" dirty="0" err="1"/>
              <a:t>is_holiday</a:t>
            </a:r>
            <a:r>
              <a:rPr lang="en-AU" dirty="0"/>
              <a:t>: public holidays (from official NSW calendar).</a:t>
            </a:r>
          </a:p>
          <a:p>
            <a:r>
              <a:rPr lang="en-AU" b="1" dirty="0" err="1"/>
              <a:t>is_long_weekend</a:t>
            </a:r>
            <a:r>
              <a:rPr lang="en-AU" dirty="0"/>
              <a:t>: captures when weekends connect to a holiday (Fri–Mon).</a:t>
            </a:r>
          </a:p>
          <a:p>
            <a:r>
              <a:rPr lang="en-AU" b="1" dirty="0"/>
              <a:t>sin/cos encodings</a:t>
            </a:r>
            <a:r>
              <a:rPr lang="en-AU" dirty="0"/>
              <a:t> for hour of day and day of week: give the model a smooth sense of daily and weekly cycles.</a:t>
            </a:r>
          </a:p>
          <a:p>
            <a:r>
              <a:rPr lang="en-AU" i="1" dirty="0"/>
              <a:t>Why?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Demand patterns differ on weekdays vs weekends, and holidays shift behaviour. </a:t>
            </a:r>
          </a:p>
          <a:p>
            <a:pPr lvl="1"/>
            <a:r>
              <a:rPr lang="en-AU" dirty="0"/>
              <a:t>Cyclical encodings make it easier for the model to “see” that 23:30 and 00:00 are close in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45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4E7D7-F4FF-CC2C-53FC-0C58FC6D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Temperature-based flags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A1940-BA72-0A82-C87D-1130C49F9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b="1" dirty="0" err="1"/>
              <a:t>is_hot_slot</a:t>
            </a:r>
            <a:r>
              <a:rPr lang="en-AU" b="1" dirty="0"/>
              <a:t> / </a:t>
            </a:r>
            <a:r>
              <a:rPr lang="en-AU" b="1" dirty="0" err="1"/>
              <a:t>is_cold_slot</a:t>
            </a:r>
            <a:r>
              <a:rPr lang="en-AU" dirty="0"/>
              <a:t>: flags if temperature at that half-hour &gt;=30°C or &lt;=5°C.</a:t>
            </a:r>
          </a:p>
          <a:p>
            <a:r>
              <a:rPr lang="en-AU" b="1" dirty="0" err="1"/>
              <a:t>is_hot_day</a:t>
            </a:r>
            <a:r>
              <a:rPr lang="en-AU" b="1" dirty="0"/>
              <a:t> / </a:t>
            </a:r>
            <a:r>
              <a:rPr lang="en-AU" b="1" dirty="0" err="1"/>
              <a:t>is_cold_day</a:t>
            </a:r>
            <a:r>
              <a:rPr lang="en-AU" b="1" dirty="0"/>
              <a:t> / </a:t>
            </a:r>
            <a:r>
              <a:rPr lang="en-AU" b="1" dirty="0" err="1"/>
              <a:t>is_normal_day</a:t>
            </a:r>
            <a:r>
              <a:rPr lang="en-AU" dirty="0"/>
              <a:t>: flags entire days based on daily max/min temp.</a:t>
            </a:r>
            <a:br>
              <a:rPr lang="en-AU" dirty="0"/>
            </a:br>
            <a:endParaRPr lang="en-AU" dirty="0"/>
          </a:p>
          <a:p>
            <a:r>
              <a:rPr lang="en-AU" dirty="0"/>
              <a:t>Note:</a:t>
            </a:r>
          </a:p>
          <a:p>
            <a:pPr lvl="1"/>
            <a:r>
              <a:rPr lang="en-AU" dirty="0"/>
              <a:t>These don’t go into the model inputs (to avoid leakage), but are essential for </a:t>
            </a:r>
            <a:r>
              <a:rPr lang="en-AU" b="1" dirty="0"/>
              <a:t>evaluation and weighting</a:t>
            </a:r>
            <a:r>
              <a:rPr lang="en-AU" dirty="0"/>
              <a:t>. </a:t>
            </a:r>
          </a:p>
          <a:p>
            <a:pPr lvl="1"/>
            <a:r>
              <a:rPr lang="en-AU" dirty="0"/>
              <a:t>They let us measure accuracy separately on hot vs normal days and optionally train with more weight on hot days.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737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66EE-3091-8C6D-EB8F-F94DCFA73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697F-29B1-9910-255E-E2EA9C9D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Demand lag &amp; rolling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53F6B-CE5F-DF01-8018-EBFD36CB4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y_lag1</a:t>
            </a:r>
            <a:r>
              <a:rPr lang="en-AU" dirty="0"/>
              <a:t>: demand 30 minutes ago → captures immediate momentum.</a:t>
            </a:r>
          </a:p>
          <a:p>
            <a:r>
              <a:rPr lang="en-AU" b="1" dirty="0"/>
              <a:t>y_lag48</a:t>
            </a:r>
            <a:r>
              <a:rPr lang="en-AU" dirty="0"/>
              <a:t>: demand at the same time yesterday → daily cycle.</a:t>
            </a:r>
          </a:p>
          <a:p>
            <a:r>
              <a:rPr lang="en-AU" b="1" dirty="0"/>
              <a:t>y_lag336</a:t>
            </a:r>
            <a:r>
              <a:rPr lang="en-AU" dirty="0"/>
              <a:t>: demand at the same time last week → weekly cycle.</a:t>
            </a:r>
          </a:p>
          <a:p>
            <a:r>
              <a:rPr lang="en-AU" b="1" dirty="0"/>
              <a:t>y_roll_mean_48</a:t>
            </a:r>
            <a:r>
              <a:rPr lang="en-AU" dirty="0"/>
              <a:t>: average demand over the last day → smooth baseline.</a:t>
            </a:r>
          </a:p>
          <a:p>
            <a:r>
              <a:rPr lang="en-AU" b="1" dirty="0"/>
              <a:t>y_roll_std_48</a:t>
            </a:r>
            <a:r>
              <a:rPr lang="en-AU" dirty="0"/>
              <a:t>: variability of demand over the last day → indicates volatility.</a:t>
            </a:r>
          </a:p>
          <a:p>
            <a:r>
              <a:rPr lang="en-AU" b="1" dirty="0"/>
              <a:t>y_roll_mean_336</a:t>
            </a:r>
            <a:r>
              <a:rPr lang="en-AU" dirty="0"/>
              <a:t>: average over the past week → weekly baseline level.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80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A1698-0AD4-4F3A-7B50-0297A9E1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DED8-5AEC-3D3A-A59A-A86027EF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lag &amp; rolling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42F4A-6C3B-1B77-23E3-ADB281A2D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AU" b="1" dirty="0"/>
              <a:t>temp_lag1 / lag2 / lag3</a:t>
            </a:r>
            <a:r>
              <a:rPr lang="en-AU" dirty="0"/>
              <a:t>: temp 30, 60, 90 minutes </a:t>
            </a:r>
            <a:r>
              <a:rPr lang="en-AU" dirty="0">
                <a:solidFill>
                  <a:srgbClr val="FF0000"/>
                </a:solidFill>
              </a:rPr>
              <a:t>ago</a:t>
            </a:r>
            <a:r>
              <a:rPr lang="en-AU" dirty="0"/>
              <a:t> → short-term persistence (heat build-up).</a:t>
            </a:r>
          </a:p>
          <a:p>
            <a:r>
              <a:rPr lang="en-AU" b="1" dirty="0"/>
              <a:t>temp_lag48</a:t>
            </a:r>
            <a:r>
              <a:rPr lang="en-AU" dirty="0"/>
              <a:t>: temp at the same time </a:t>
            </a:r>
            <a:r>
              <a:rPr lang="en-AU" dirty="0">
                <a:solidFill>
                  <a:srgbClr val="FF0000"/>
                </a:solidFill>
              </a:rPr>
              <a:t>yesterday</a:t>
            </a:r>
            <a:r>
              <a:rPr lang="en-AU" dirty="0"/>
              <a:t> → daily thermal cycle.</a:t>
            </a:r>
          </a:p>
          <a:p>
            <a:r>
              <a:rPr lang="en-AU" b="1" dirty="0"/>
              <a:t>temp_roll_max_48 / temp_roll_min_48</a:t>
            </a:r>
            <a:r>
              <a:rPr lang="en-AU" dirty="0"/>
              <a:t>: hottest and coolest temp in the last 24h → distinguish heatwaves vs single hot hours.</a:t>
            </a:r>
          </a:p>
          <a:p>
            <a:pPr marL="0" indent="0">
              <a:buNone/>
            </a:pPr>
            <a:br>
              <a:rPr lang="en-AU" dirty="0"/>
            </a:br>
            <a:endParaRPr lang="en-AU" dirty="0"/>
          </a:p>
          <a:p>
            <a:r>
              <a:rPr lang="en-AU" dirty="0"/>
              <a:t>Demand reacts not just to current temperature, but to sustained heat/cold. </a:t>
            </a:r>
          </a:p>
          <a:p>
            <a:r>
              <a:rPr lang="en-AU" dirty="0"/>
              <a:t>These features give the model context on how “extreme” current conditions are compared with the recent past.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818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B316D0-FF07-0BDB-A615-1EB30000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these features help for hot-day forecasting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6495E-1336-86BA-7083-98FB6980B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b="1" dirty="0"/>
              <a:t>Calendar features</a:t>
            </a:r>
            <a:r>
              <a:rPr lang="en-AU" dirty="0"/>
              <a:t> prevent misinterpreting holiday/weekend demand drops as weather effects.</a:t>
            </a:r>
          </a:p>
          <a:p>
            <a:r>
              <a:rPr lang="en-AU" b="1" dirty="0"/>
              <a:t>Lag features</a:t>
            </a:r>
            <a:r>
              <a:rPr lang="en-AU" dirty="0"/>
              <a:t> help align the model with recurring daily and weekly shapes.</a:t>
            </a:r>
          </a:p>
          <a:p>
            <a:r>
              <a:rPr lang="en-AU" b="1" dirty="0"/>
              <a:t>Rolling features</a:t>
            </a:r>
            <a:r>
              <a:rPr lang="en-AU" dirty="0"/>
              <a:t> provide baselines to measure unusual deviations (e.g., spikes on a hot day).</a:t>
            </a:r>
          </a:p>
          <a:p>
            <a:r>
              <a:rPr lang="en-AU" b="1" dirty="0"/>
              <a:t>Temperature lags/rolls</a:t>
            </a:r>
            <a:r>
              <a:rPr lang="en-AU" dirty="0"/>
              <a:t> capture the persistence of heatwaves, critical for predicting cooling load.</a:t>
            </a:r>
          </a:p>
          <a:p>
            <a:r>
              <a:rPr lang="en-AU" b="1" dirty="0"/>
              <a:t>Hot/cold flags</a:t>
            </a:r>
            <a:r>
              <a:rPr lang="en-AU" dirty="0"/>
              <a:t> allow us to evaluate or up-weight extreme days without leaking future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003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AA032835E4D742B18CF034F9E3968A" ma:contentTypeVersion="9" ma:contentTypeDescription="Create a new document." ma:contentTypeScope="" ma:versionID="2d7b82c48c3555fe1e5cff2a1f430e32">
  <xsd:schema xmlns:xsd="http://www.w3.org/2001/XMLSchema" xmlns:xs="http://www.w3.org/2001/XMLSchema" xmlns:p="http://schemas.microsoft.com/office/2006/metadata/properties" xmlns:ns2="c57ccb47-2066-49ca-8dff-bb0e1657242c" targetNamespace="http://schemas.microsoft.com/office/2006/metadata/properties" ma:root="true" ma:fieldsID="7cc71b06af19d37600291bcfd342822a" ns2:_="">
    <xsd:import namespace="c57ccb47-2066-49ca-8dff-bb0e165724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7ccb47-2066-49ca-8dff-bb0e165724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7ccb47-2066-49ca-8dff-bb0e1657242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E268321-0A5E-498B-BDD0-936716DC9547}"/>
</file>

<file path=customXml/itemProps2.xml><?xml version="1.0" encoding="utf-8"?>
<ds:datastoreItem xmlns:ds="http://schemas.openxmlformats.org/officeDocument/2006/customXml" ds:itemID="{45E540A6-6D13-452C-9046-B916E67298A5}"/>
</file>

<file path=customXml/itemProps3.xml><?xml version="1.0" encoding="utf-8"?>
<ds:datastoreItem xmlns:ds="http://schemas.openxmlformats.org/officeDocument/2006/customXml" ds:itemID="{97E98D9C-3BAE-4A1D-B100-513FFA663B71}"/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1168</Words>
  <Application>Microsoft Macintosh PowerPoint</Application>
  <PresentationFormat>Widescreen</PresentationFormat>
  <Paragraphs>108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Experiment Setting</vt:lpstr>
      <vt:lpstr>Forecast Horizon &amp; Inputs</vt:lpstr>
      <vt:lpstr>How do we handle temperature?</vt:lpstr>
      <vt:lpstr>Model with history-only data</vt:lpstr>
      <vt:lpstr>Ex 1. Feature set comparison (history-only):</vt:lpstr>
      <vt:lpstr>Ex 2. Hot-aware weighting experiments</vt:lpstr>
      <vt:lpstr>Ex 3. Evaluation slices (history-only)</vt:lpstr>
      <vt:lpstr>Ex 4. Baselines for context</vt:lpstr>
      <vt:lpstr>PowerPoint Presentation</vt:lpstr>
      <vt:lpstr>Feature Engineered Data </vt:lpstr>
      <vt:lpstr>Core variables</vt:lpstr>
      <vt:lpstr>Calendar and time features</vt:lpstr>
      <vt:lpstr>Temperature-based flags</vt:lpstr>
      <vt:lpstr>Demand lag &amp; rolling features</vt:lpstr>
      <vt:lpstr>Temperature lag &amp; rolling features</vt:lpstr>
      <vt:lpstr>Why these features help for hot-day forecasting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kim</dc:creator>
  <cp:lastModifiedBy>maria kim</cp:lastModifiedBy>
  <cp:revision>26</cp:revision>
  <dcterms:created xsi:type="dcterms:W3CDTF">2025-09-16T07:55:24Z</dcterms:created>
  <dcterms:modified xsi:type="dcterms:W3CDTF">2025-09-16T09:00:47Z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0x0101003AAA032835E4D742B18CF034F9E3968A</vt:lpwstr>
  </property>
</Properties>
</file>